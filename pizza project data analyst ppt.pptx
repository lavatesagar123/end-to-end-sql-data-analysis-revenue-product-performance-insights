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mailto:sagarlavate2025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sagar-lava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4E72AD7-B5C1-F622-9BC4-08E4063BA780}"/>
              </a:ext>
            </a:extLst>
          </p:cNvPr>
          <p:cNvSpPr txBox="1"/>
          <p:nvPr/>
        </p:nvSpPr>
        <p:spPr>
          <a:xfrm>
            <a:off x="2869815" y="631097"/>
            <a:ext cx="93221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Title: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dirty="0"/>
              <a:t>🍕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pizza_sales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– SQL Data Analysis Project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Subtitle: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Business Insights Using SQL</a:t>
            </a:r>
            <a:br>
              <a:rPr lang="en-IN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Name: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sagar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Lavate</a:t>
            </a:r>
            <a:br>
              <a:rPr lang="en-IN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Tools: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SQL | MySQL |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MySQLWorkbench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69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EB8E8-F3DC-2203-92AB-40B1CFA6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80" y="0"/>
            <a:ext cx="10018713" cy="904461"/>
          </a:xfrm>
        </p:spPr>
        <p:txBody>
          <a:bodyPr/>
          <a:lstStyle/>
          <a:p>
            <a:r>
              <a:rPr lang="en-IN" dirty="0">
                <a:latin typeface="+mn-lt"/>
              </a:rPr>
              <a:t>🎯 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Problem</a:t>
            </a:r>
            <a:r>
              <a:rPr lang="en-IN" dirty="0">
                <a:latin typeface="+mn-lt"/>
              </a:rPr>
              <a:t> 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E7604-FE13-F12E-8B42-B3558F2E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275" y="1454426"/>
            <a:ext cx="10018713" cy="182548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To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analyze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pizza sales data using SQL and uncover key insights related to revenue, customer </a:t>
            </a:r>
            <a:r>
              <a:rPr lang="en-IN" sz="3200" dirty="0" err="1">
                <a:solidFill>
                  <a:schemeClr val="accent1">
                    <a:lumMod val="75000"/>
                  </a:schemeClr>
                </a:solidFill>
              </a:rPr>
              <a:t>behavior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, product performance, and time-based sales trends to support strategic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8387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5DBC3DC-1920-15E1-F8E2-8FBFFE641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101" y="-106018"/>
            <a:ext cx="5127118" cy="1320800"/>
          </a:xfrm>
        </p:spPr>
        <p:txBody>
          <a:bodyPr/>
          <a:lstStyle/>
          <a:p>
            <a:r>
              <a:rPr lang="en-IN" sz="2400" dirty="0"/>
              <a:t>📌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755E6-CBBE-9BFD-8FF8-110F9B4E582D}"/>
              </a:ext>
            </a:extLst>
          </p:cNvPr>
          <p:cNvSpPr txBox="1"/>
          <p:nvPr/>
        </p:nvSpPr>
        <p:spPr>
          <a:xfrm>
            <a:off x="2574235" y="1214782"/>
            <a:ext cx="8915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This project focuses on </a:t>
            </a:r>
            <a:r>
              <a:rPr lang="en-IN" sz="3000" dirty="0" err="1">
                <a:solidFill>
                  <a:schemeClr val="accent1">
                    <a:lumMod val="75000"/>
                  </a:schemeClr>
                </a:solidFill>
              </a:rPr>
              <a:t>analyzing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pizza sales data using SQL to extract meaningful business insights and support data-driven decision-making.</a:t>
            </a:r>
          </a:p>
          <a:p>
            <a:pPr algn="just"/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The objective was to explore order patterns, revenue trends, customer preferences, and product performance using structured queries ranging from basic aggregations to advanced window functions.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387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D9EC-D154-371B-17B9-FB467C4E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415" y="129209"/>
            <a:ext cx="10018713" cy="815009"/>
          </a:xfrm>
        </p:spPr>
        <p:txBody>
          <a:bodyPr>
            <a:normAutofit/>
          </a:bodyPr>
          <a:lstStyle/>
          <a:p>
            <a:r>
              <a:rPr lang="en-IN" sz="2000" b="1" dirty="0"/>
              <a:t>📊 </a:t>
            </a:r>
            <a:r>
              <a:rPr lang="it-IT" sz="3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Data Model – Pizza Sales Analysis</a:t>
            </a:r>
            <a:endParaRPr lang="en-IN" sz="32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A2B179-140C-3998-FDA7-60608EDCC4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5411" y="857071"/>
            <a:ext cx="104865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Built star schema data model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Established relationships between Orders, Order Details, Pizzas, and Pizza Types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Maintained 1-to-many relationships for accurate aggregation</a:t>
            </a:r>
          </a:p>
        </p:txBody>
      </p:sp>
      <p:sp>
        <p:nvSpPr>
          <p:cNvPr id="6" name="AutoShape 4" descr="Uploaded image">
            <a:extLst>
              <a:ext uri="{FF2B5EF4-FFF2-40B4-BE49-F238E27FC236}">
                <a16:creationId xmlns:a16="http://schemas.microsoft.com/office/drawing/2014/main" id="{3E6968F1-9212-EDD7-8E37-AB1341ADEA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64904" y="3276600"/>
            <a:ext cx="6887818" cy="378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0A6A3-0E21-EB15-1C83-836F17DFB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17" t="34314" r="19376" b="20869"/>
          <a:stretch/>
        </p:blipFill>
        <p:spPr>
          <a:xfrm>
            <a:off x="2017643" y="2057400"/>
            <a:ext cx="10018713" cy="407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049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92F4-6877-EA45-2710-71C73B7F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955" y="0"/>
            <a:ext cx="10018713" cy="68580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📊 SQL Analysis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4BE4-1D59-006C-AA8E-A3D5C2514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537" y="2911210"/>
            <a:ext cx="3495193" cy="244127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🔹 Basic Analysis</a:t>
            </a: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• Total Orders &amp; Revenue</a:t>
            </a:r>
            <a:br>
              <a:rPr lang="en-IN" sz="3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• Highest Priced Pizza</a:t>
            </a:r>
            <a:br>
              <a:rPr lang="en-IN" sz="3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• Most Ordered Size</a:t>
            </a:r>
            <a:br>
              <a:rPr lang="en-IN" sz="3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• Top 3 Pizzas (Quantity)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7AB1D-C4EA-C872-0FF9-39983F9538F7}"/>
              </a:ext>
            </a:extLst>
          </p:cNvPr>
          <p:cNvSpPr txBox="1"/>
          <p:nvPr/>
        </p:nvSpPr>
        <p:spPr>
          <a:xfrm>
            <a:off x="4452730" y="2726152"/>
            <a:ext cx="394086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🔹 Intermediate Analysis</a:t>
            </a:r>
          </a:p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Category-wise Quantity</a:t>
            </a:r>
            <a:br>
              <a:rPr lang="en-IN" sz="2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Hourly Order Distribution</a:t>
            </a:r>
            <a:br>
              <a:rPr lang="en-IN" sz="2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</a:t>
            </a:r>
            <a:r>
              <a:rPr lang="en-IN" sz="2800" dirty="0" err="1">
                <a:solidFill>
                  <a:schemeClr val="accent1">
                    <a:lumMod val="75000"/>
                  </a:schemeClr>
                </a:solidFill>
              </a:rPr>
              <a:t>Avg</a:t>
            </a: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 Orders Per Day</a:t>
            </a:r>
            <a:br>
              <a:rPr lang="en-IN" sz="2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Top 3 by Revenue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1B437-E605-BB65-8077-73B83AA40905}"/>
              </a:ext>
            </a:extLst>
          </p:cNvPr>
          <p:cNvSpPr txBox="1"/>
          <p:nvPr/>
        </p:nvSpPr>
        <p:spPr>
          <a:xfrm>
            <a:off x="8447813" y="2534478"/>
            <a:ext cx="374418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🔹 Advanced Analysis</a:t>
            </a:r>
          </a:p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Revenue % Contribution</a:t>
            </a:r>
            <a:br>
              <a:rPr lang="en-IN" sz="2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Cumulative Revenue Trend</a:t>
            </a:r>
            <a:br>
              <a:rPr lang="en-IN" sz="28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• Category-wise Revenue Ranking (RANK())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8B44E-79C5-8EE1-1080-29471902CB29}"/>
              </a:ext>
            </a:extLst>
          </p:cNvPr>
          <p:cNvSpPr txBox="1"/>
          <p:nvPr/>
        </p:nvSpPr>
        <p:spPr>
          <a:xfrm>
            <a:off x="2128564" y="971826"/>
            <a:ext cx="9034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This project involved writing structured SQL queries to </a:t>
            </a:r>
            <a:r>
              <a:rPr lang="en-IN" sz="3000" dirty="0" err="1">
                <a:solidFill>
                  <a:schemeClr val="accent1">
                    <a:lumMod val="75000"/>
                  </a:schemeClr>
                </a:solidFill>
              </a:rPr>
              <a:t>analyze</a:t>
            </a:r>
            <a:r>
              <a:rPr lang="en-IN" sz="3000" dirty="0">
                <a:solidFill>
                  <a:schemeClr val="accent1">
                    <a:lumMod val="75000"/>
                  </a:schemeClr>
                </a:solidFill>
              </a:rPr>
              <a:t> pizza sales data at multiple levels — from basic sales metrics to advanced revenue analytics.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51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045" y="119270"/>
            <a:ext cx="8574622" cy="675860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Retrieve the total number of orders placed</a:t>
            </a:r>
            <a:r>
              <a:rPr lang="en-IN" sz="3200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05651-F076-A4ED-4A17-B0DE53AEF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60"/>
          <a:stretch/>
        </p:blipFill>
        <p:spPr>
          <a:xfrm>
            <a:off x="2455379" y="1478859"/>
            <a:ext cx="7593081" cy="1151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12969A-A9D0-8F31-A1B4-A9CBF2247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2" y="2746927"/>
            <a:ext cx="2753138" cy="183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7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045" y="397566"/>
            <a:ext cx="8574622" cy="944216"/>
          </a:xfrm>
        </p:spPr>
        <p:txBody>
          <a:bodyPr>
            <a:normAutofit fontScale="90000"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Calculate the total revenue generated from pizza sales.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8C3957-3D0C-BEBF-0079-13584B880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1588811"/>
            <a:ext cx="7010400" cy="1990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D5E0CF-459D-0150-5640-106EABEB6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356" y="3926370"/>
            <a:ext cx="3543715" cy="184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64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045" y="397566"/>
            <a:ext cx="8574622" cy="586408"/>
          </a:xfrm>
        </p:spPr>
        <p:txBody>
          <a:bodyPr>
            <a:normAutofit fontScale="90000"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Identify the most common pizza size ordered.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5004C-D6BC-E1F3-213C-BC6AF3D7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1215058"/>
            <a:ext cx="6600825" cy="2800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3D851F-252F-D301-506D-1AB2BCD28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18" y="4077115"/>
            <a:ext cx="2752104" cy="159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0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045" y="397566"/>
            <a:ext cx="8574622" cy="954156"/>
          </a:xfrm>
        </p:spPr>
        <p:txBody>
          <a:bodyPr>
            <a:normAutofit fontScale="90000"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Join the necessary tables to find the total quantity of each pizza category ordered.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CC27C3-E51C-826E-856F-460E9E61F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487" y="1374291"/>
            <a:ext cx="8309113" cy="3108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B4FA17-A171-FEB4-8903-0BDCA28F5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617" y="4678846"/>
            <a:ext cx="3661049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5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0045" y="397566"/>
            <a:ext cx="8574622" cy="954156"/>
          </a:xfrm>
        </p:spPr>
        <p:txBody>
          <a:bodyPr>
            <a:normAutofit fontScale="90000"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Group the orders by date and calculate the average number of pizzas ordered per day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4E359-4BB6-039E-5430-2A988DD6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104" y="1538909"/>
            <a:ext cx="7981122" cy="224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CECAA-4272-665F-1685-5F4659B8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471" y="4075043"/>
            <a:ext cx="3150496" cy="181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8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109330"/>
            <a:ext cx="10287000" cy="954156"/>
          </a:xfrm>
        </p:spPr>
        <p:txBody>
          <a:bodyPr>
            <a:normAutofit fontScale="90000"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Calculate the percentage contribution of each pizza type to total revenue.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97638-3FA0-23B7-93AE-19D51746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261" y="1063486"/>
            <a:ext cx="7583557" cy="4124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52CE9C-269F-6CFF-9D18-96E7F599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039" y="5257800"/>
            <a:ext cx="2990850" cy="14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73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2B46-CE0E-173F-D253-C29A93B14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775" y="0"/>
            <a:ext cx="9107885" cy="775251"/>
          </a:xfrm>
        </p:spPr>
        <p:txBody>
          <a:bodyPr>
            <a:normAutofit fontScale="90000"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IN" sz="33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Analyze</a:t>
            </a:r>
            <a:r>
              <a:rPr lang="en-IN" sz="33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the cumulative revenue generated over time.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26022-25DA-6C44-E32F-DB643CCCF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183" y="775251"/>
            <a:ext cx="8676860" cy="3886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83907-3313-96E9-4E97-716C2993A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4" y="4661452"/>
            <a:ext cx="3333336" cy="212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58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49C7-72DC-62E7-C9D9-9E80A6D68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79513"/>
            <a:ext cx="10018713" cy="655983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📊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0E627-AFB7-0732-5A97-A95BA6E21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2382" y="735495"/>
            <a:ext cx="7739202" cy="6042991"/>
          </a:xfrm>
        </p:spPr>
        <p:txBody>
          <a:bodyPr>
            <a:normAutofit fontScale="25000" lnSpcReduction="20000"/>
          </a:bodyPr>
          <a:lstStyle/>
          <a:p>
            <a:r>
              <a:rPr lang="en-IN" sz="7200" b="1" dirty="0">
                <a:solidFill>
                  <a:schemeClr val="accent1">
                    <a:lumMod val="75000"/>
                  </a:schemeClr>
                </a:solidFill>
              </a:rPr>
              <a:t>💰 Revenue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Identified top revenue-generating pizza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Certain categories contributed significantly higher percentage to total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High-priced pizzas did not always generate highest sales volume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6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7200" b="1" dirty="0">
                <a:solidFill>
                  <a:schemeClr val="accent1">
                    <a:lumMod val="75000"/>
                  </a:schemeClr>
                </a:solidFill>
              </a:rPr>
              <a:t>🛒 Customer </a:t>
            </a:r>
            <a:r>
              <a:rPr lang="en-IN" sz="7200" b="1" dirty="0" err="1">
                <a:solidFill>
                  <a:schemeClr val="accent1">
                    <a:lumMod val="75000"/>
                  </a:schemeClr>
                </a:solidFill>
              </a:rPr>
              <a:t>Behavior</a:t>
            </a:r>
            <a:endParaRPr lang="en-IN" sz="72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Most customers preferred specific pizza sizes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Peak order hours were identified using time-based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Daily average order volume showed consistent demand patterns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6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7200" b="1" dirty="0">
                <a:solidFill>
                  <a:schemeClr val="accent1">
                    <a:lumMod val="75000"/>
                  </a:schemeClr>
                </a:solidFill>
              </a:rPr>
              <a:t>📦 Product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Top 3 pizzas contributed major portion of total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Some categories had high demand but lower price margins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Revenue concentration highlighted best-performing segments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6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7200" b="1" dirty="0">
                <a:solidFill>
                  <a:schemeClr val="accent1">
                    <a:lumMod val="75000"/>
                  </a:schemeClr>
                </a:solidFill>
              </a:rPr>
              <a:t>📈 Trend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Cumulative revenue showed steady business growth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6400" dirty="0">
                <a:solidFill>
                  <a:schemeClr val="accent1">
                    <a:lumMod val="75000"/>
                  </a:schemeClr>
                </a:solidFill>
              </a:rPr>
              <a:t>Seasonal or time-based patterns can support marketing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751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7A6F-F9AE-F933-ECFE-048B5402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275" y="102705"/>
            <a:ext cx="6861450" cy="834886"/>
          </a:xfrm>
        </p:spPr>
        <p:txBody>
          <a:bodyPr/>
          <a:lstStyle/>
          <a:p>
            <a:r>
              <a:rPr lang="en-IN" sz="3200" dirty="0"/>
              <a:t>🎓</a:t>
            </a:r>
            <a:r>
              <a:rPr lang="en-IN" dirty="0"/>
              <a:t> 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Conclusion &amp;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429A-FF8B-1DAD-810F-1259034F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389" y="1156251"/>
            <a:ext cx="10018713" cy="312420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The SQL-based analysis successfully transformed raw transactional data into meaningful business insights.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The project helped identify high-performing products, customer preferences, and revenue trends that can support strategic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0171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7A6F-F9AE-F933-ECFE-048B5402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275" y="102704"/>
            <a:ext cx="6861450" cy="1408043"/>
          </a:xfrm>
        </p:spPr>
        <p:txBody>
          <a:bodyPr>
            <a:normAutofit/>
          </a:bodyPr>
          <a:lstStyle/>
          <a:p>
            <a:r>
              <a:rPr lang="en-IN" sz="3600" dirty="0"/>
              <a:t>🙏</a:t>
            </a:r>
            <a:r>
              <a:rPr lang="en-IN" sz="2000" dirty="0"/>
              <a:t> </a:t>
            </a:r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Thank</a:t>
            </a:r>
            <a:r>
              <a:rPr lang="en-IN" sz="2000" dirty="0"/>
              <a:t> </a:t>
            </a:r>
            <a:r>
              <a:rPr lang="en-IN" sz="44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429A-FF8B-1DAD-810F-1259034F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389" y="1421296"/>
            <a:ext cx="10018713" cy="824948"/>
          </a:xfrm>
        </p:spPr>
        <p:txBody>
          <a:bodyPr>
            <a:normAutofit/>
          </a:bodyPr>
          <a:lstStyle/>
          <a:p>
            <a:r>
              <a:rPr lang="en-IN" sz="2800" dirty="0">
                <a:ln w="3175" cmpd="sng">
                  <a:noFill/>
                </a:ln>
                <a:solidFill>
                  <a:schemeClr val="accent1">
                    <a:lumMod val="75000"/>
                  </a:schemeClr>
                </a:solidFill>
              </a:rPr>
              <a:t>Thank you for your time and attention.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3F477-6675-060E-8381-6AD8D1D6D380}"/>
              </a:ext>
            </a:extLst>
          </p:cNvPr>
          <p:cNvSpPr txBox="1"/>
          <p:nvPr/>
        </p:nvSpPr>
        <p:spPr>
          <a:xfrm>
            <a:off x="2004560" y="2107095"/>
            <a:ext cx="66691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.</a:t>
            </a:r>
          </a:p>
          <a:p>
            <a:r>
              <a:rPr lang="en-IN" dirty="0"/>
              <a:t>📧 </a:t>
            </a:r>
            <a:r>
              <a:rPr lang="en-IN" dirty="0">
                <a:ln w="3175" cmpd="sng">
                  <a:noFill/>
                </a:ln>
                <a:solidFill>
                  <a:schemeClr val="accent1">
                    <a:lumMod val="75000"/>
                  </a:schemeClr>
                </a:solidFill>
              </a:rPr>
              <a:t>Contact</a:t>
            </a:r>
            <a:r>
              <a:rPr lang="en-IN" dirty="0"/>
              <a:t>: </a:t>
            </a:r>
            <a:r>
              <a:rPr lang="en-IN" dirty="0">
                <a:hlinkClick r:id="rId2"/>
              </a:rPr>
              <a:t>sagarlavate2025@gmail.com</a:t>
            </a:r>
            <a:endParaRPr lang="en-IN" dirty="0"/>
          </a:p>
          <a:p>
            <a:r>
              <a:rPr lang="en-IN" dirty="0"/>
              <a:t>                     </a:t>
            </a:r>
          </a:p>
          <a:p>
            <a:endParaRPr lang="en-IN" dirty="0"/>
          </a:p>
        </p:txBody>
      </p:sp>
      <p:sp>
        <p:nvSpPr>
          <p:cNvPr id="6" name="AutoShape 2" descr="Uploaded image">
            <a:extLst>
              <a:ext uri="{FF2B5EF4-FFF2-40B4-BE49-F238E27FC236}">
                <a16:creationId xmlns:a16="http://schemas.microsoft.com/office/drawing/2014/main" id="{FD62B7CE-47CD-001F-4FB5-C12D492244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90053" y="38921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2" name="Picture 4" descr="Linkedin ">
            <a:extLst>
              <a:ext uri="{FF2B5EF4-FFF2-40B4-BE49-F238E27FC236}">
                <a16:creationId xmlns:a16="http://schemas.microsoft.com/office/drawing/2014/main" id="{EBF5B12E-6617-358B-0E64-6C8DFD921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156" y="2722648"/>
            <a:ext cx="319085" cy="43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217B18-C0E6-DB4E-FB16-7B19069177E8}"/>
              </a:ext>
            </a:extLst>
          </p:cNvPr>
          <p:cNvSpPr txBox="1"/>
          <p:nvPr/>
        </p:nvSpPr>
        <p:spPr>
          <a:xfrm>
            <a:off x="2416241" y="2781681"/>
            <a:ext cx="4134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https://www.linkedin.com/in/sagar-lavate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231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81</TotalTime>
  <Words>488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Corbel</vt:lpstr>
      <vt:lpstr>Wingdings</vt:lpstr>
      <vt:lpstr>Parallax</vt:lpstr>
      <vt:lpstr>PowerPoint Presentation</vt:lpstr>
      <vt:lpstr>🎯 Problem Statement</vt:lpstr>
      <vt:lpstr>📌Project Overview</vt:lpstr>
      <vt:lpstr>📊 Data Model – Pizza Sales Analysis</vt:lpstr>
      <vt:lpstr>📊 SQL Analysis Queries</vt:lpstr>
      <vt:lpstr>Retrieve the total number of orders placed.</vt:lpstr>
      <vt:lpstr>Calculate the total revenue generated from pizza sales.</vt:lpstr>
      <vt:lpstr>Identify the most common pizza size ordered.</vt:lpstr>
      <vt:lpstr>Join the necessary tables to find the total quantity of each pizza category ordered.</vt:lpstr>
      <vt:lpstr>Group the orders by date and calculate the average number of pizzas ordered per day</vt:lpstr>
      <vt:lpstr>Calculate the percentage contribution of each pizza type to total revenue.</vt:lpstr>
      <vt:lpstr>Analyze the cumulative revenue generated over time.</vt:lpstr>
      <vt:lpstr>📊 Key Insights</vt:lpstr>
      <vt:lpstr>🎓 Conclusion &amp; Learning</vt:lpstr>
      <vt:lpstr>🙏 Thank You</vt:lpstr>
    </vt:vector>
  </TitlesOfParts>
  <Company>Shree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sagarlavate2025@gmail.com</dc:creator>
  <cp:lastModifiedBy>sagarlavate2025@gmail.com</cp:lastModifiedBy>
  <cp:revision>2</cp:revision>
  <dcterms:created xsi:type="dcterms:W3CDTF">2026-02-15T09:41:25Z</dcterms:created>
  <dcterms:modified xsi:type="dcterms:W3CDTF">2026-02-15T11:03:04Z</dcterms:modified>
</cp:coreProperties>
</file>